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 Bold Italics" panose="020B0604020202020204" charset="0"/>
      <p:regular r:id="rId8"/>
    </p:embeddedFont>
    <p:embeddedFont>
      <p:font typeface="Poppins Bold" panose="020B0604020202020204" charset="0"/>
      <p:regular r:id="rId9"/>
    </p:embeddedFont>
    <p:embeddedFont>
      <p:font typeface="League Spartan" panose="020B0604020202020204" charset="0"/>
      <p:regular r:id="rId10"/>
    </p:embeddedFont>
    <p:embeddedFont>
      <p:font typeface="Poppins" panose="020B0604020202020204" charset="0"/>
      <p:regular r:id="rId11"/>
    </p:embeddedFont>
    <p:embeddedFont>
      <p:font typeface="Sanchez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29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2143" y="4953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210800" y="838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822960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229600" y="0"/>
                </a:lnTo>
                <a:lnTo>
                  <a:pt x="822960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9319935" y="2774163"/>
            <a:ext cx="2253757" cy="2252463"/>
          </a:xfrm>
          <a:custGeom>
            <a:avLst/>
            <a:gdLst/>
            <a:ahLst/>
            <a:cxnLst/>
            <a:rect l="l" t="t" r="r" b="b"/>
            <a:pathLst>
              <a:path w="2253757" h="2252463">
                <a:moveTo>
                  <a:pt x="0" y="0"/>
                </a:moveTo>
                <a:lnTo>
                  <a:pt x="2253757" y="0"/>
                </a:lnTo>
                <a:lnTo>
                  <a:pt x="2253757" y="2252463"/>
                </a:lnTo>
                <a:lnTo>
                  <a:pt x="0" y="225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61959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67835" y="3888288"/>
            <a:ext cx="8973362" cy="320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39"/>
              </a:lnSpc>
            </a:pPr>
            <a:r>
              <a:rPr lang="en-US" sz="6975" b="1" spc="3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UNITA</a:t>
            </a:r>
          </a:p>
          <a:p>
            <a:pPr marL="0" lvl="0" indent="0" algn="l">
              <a:lnSpc>
                <a:spcPts val="8439"/>
              </a:lnSpc>
            </a:pPr>
            <a:r>
              <a:rPr lang="en-US" sz="6975" b="1" spc="3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ERASMUS+</a:t>
            </a:r>
          </a:p>
          <a:p>
            <a:pPr marL="0" lvl="0" indent="0" algn="l">
              <a:lnSpc>
                <a:spcPts val="8439"/>
              </a:lnSpc>
            </a:pPr>
            <a:r>
              <a:rPr lang="en-US" sz="6975" b="1" spc="3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BIP.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91049"/>
            <a:ext cx="3086100" cy="35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165" spc="108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UNITA PROGRAMME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26157" y="1013398"/>
            <a:ext cx="1903146" cy="35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165" spc="108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05800" y="47493"/>
            <a:ext cx="5315841" cy="4684919"/>
          </a:xfrm>
          <a:custGeom>
            <a:avLst/>
            <a:gdLst/>
            <a:ahLst/>
            <a:cxnLst/>
            <a:rect l="l" t="t" r="r" b="b"/>
            <a:pathLst>
              <a:path w="8355563" h="8239660">
                <a:moveTo>
                  <a:pt x="0" y="0"/>
                </a:moveTo>
                <a:lnTo>
                  <a:pt x="8355564" y="0"/>
                </a:lnTo>
                <a:lnTo>
                  <a:pt x="8355564" y="8239660"/>
                </a:lnTo>
                <a:lnTo>
                  <a:pt x="0" y="823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61959" y="5131851"/>
            <a:ext cx="10617380" cy="3567113"/>
            <a:chOff x="0" y="0"/>
            <a:chExt cx="1213700" cy="4077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3700" cy="407766"/>
            </a:xfrm>
            <a:custGeom>
              <a:avLst/>
              <a:gdLst/>
              <a:ahLst/>
              <a:cxnLst/>
              <a:rect l="l" t="t" r="r" b="b"/>
              <a:pathLst>
                <a:path w="1213700" h="407766">
                  <a:moveTo>
                    <a:pt x="1010500" y="0"/>
                  </a:moveTo>
                  <a:cubicBezTo>
                    <a:pt x="1122730" y="0"/>
                    <a:pt x="1213700" y="91276"/>
                    <a:pt x="1213700" y="203883"/>
                  </a:cubicBezTo>
                  <a:cubicBezTo>
                    <a:pt x="1213700" y="316490"/>
                    <a:pt x="1122730" y="407766"/>
                    <a:pt x="1010500" y="407766"/>
                  </a:cubicBezTo>
                  <a:lnTo>
                    <a:pt x="203200" y="407766"/>
                  </a:lnTo>
                  <a:cubicBezTo>
                    <a:pt x="90970" y="407766"/>
                    <a:pt x="0" y="316490"/>
                    <a:pt x="0" y="203883"/>
                  </a:cubicBezTo>
                  <a:cubicBezTo>
                    <a:pt x="0" y="91276"/>
                    <a:pt x="90970" y="0"/>
                    <a:pt x="203200" y="0"/>
                  </a:cubicBezTo>
                  <a:lnTo>
                    <a:pt x="1010500" y="0"/>
                  </a:lnTo>
                </a:path>
              </a:pathLst>
            </a:custGeom>
            <a:blipFill>
              <a:blip r:embed="rId3"/>
              <a:stretch>
                <a:fillRect t="-785" b="-78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2700000">
            <a:off x="1044869" y="4552565"/>
            <a:ext cx="850736" cy="989787"/>
          </a:xfrm>
          <a:custGeom>
            <a:avLst/>
            <a:gdLst/>
            <a:ahLst/>
            <a:cxnLst/>
            <a:rect l="l" t="t" r="r" b="b"/>
            <a:pathLst>
              <a:path w="850736" h="989787">
                <a:moveTo>
                  <a:pt x="0" y="0"/>
                </a:moveTo>
                <a:lnTo>
                  <a:pt x="850737" y="0"/>
                </a:lnTo>
                <a:lnTo>
                  <a:pt x="850737" y="989787"/>
                </a:lnTo>
                <a:lnTo>
                  <a:pt x="0" y="989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700000">
            <a:off x="825226" y="6677960"/>
            <a:ext cx="1240982" cy="1268559"/>
          </a:xfrm>
          <a:custGeom>
            <a:avLst/>
            <a:gdLst/>
            <a:ahLst/>
            <a:cxnLst/>
            <a:rect l="l" t="t" r="r" b="b"/>
            <a:pathLst>
              <a:path w="1240982" h="1268559">
                <a:moveTo>
                  <a:pt x="0" y="0"/>
                </a:moveTo>
                <a:lnTo>
                  <a:pt x="1240982" y="0"/>
                </a:lnTo>
                <a:lnTo>
                  <a:pt x="1240982" y="1268560"/>
                </a:lnTo>
                <a:lnTo>
                  <a:pt x="0" y="1268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166650"/>
            <a:ext cx="9674298" cy="107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en-US" sz="3456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UNITA Erasmus+</a:t>
            </a:r>
          </a:p>
          <a:p>
            <a:pPr marL="0" lvl="0" indent="0" algn="l">
              <a:lnSpc>
                <a:spcPts val="4320"/>
              </a:lnSpc>
            </a:pPr>
            <a:r>
              <a:rPr lang="en-US" sz="3456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BIP Programme.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2010" y="5199796"/>
            <a:ext cx="872623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programme combines online training, collaborative international work, and a mobility opportunity. You will develop technical and professional skills in a real international environment, using English as the working language — just like global tech companies operate today.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4078" y="3939274"/>
            <a:ext cx="4094961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Programme Overview &amp; 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2010" y="4806096"/>
            <a:ext cx="1610942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2010" y="6835759"/>
            <a:ext cx="1610942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Participating Countries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2010" y="7428214"/>
            <a:ext cx="8726238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and institutions from Romania, Switzerland, Portugal, and Spain come together under the UNITA Erasmus+ framework. Work on data engineering, business intelligence, ETL processes, and real-world problem-solving alongside peers from across Europe.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7561959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4407" y="3558577"/>
            <a:ext cx="9080929" cy="315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Engineering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and build scalable data pipelines and architectures.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Transform raw data into actionable insights and dashboards.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Apply statistical methods to interpret real-world datasets.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Modelling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 and optimize relational and dimensional data models.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ETL Processes</a:t>
            </a:r>
          </a:p>
          <a:p>
            <a:pPr marL="0" lvl="0" indent="0" algn="l"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Extract, transform, and load data across integrated systems.</a:t>
            </a:r>
          </a:p>
        </p:txBody>
      </p:sp>
      <p:sp>
        <p:nvSpPr>
          <p:cNvPr id="3" name="Freeform 3"/>
          <p:cNvSpPr/>
          <p:nvPr/>
        </p:nvSpPr>
        <p:spPr>
          <a:xfrm>
            <a:off x="304800" y="1415257"/>
            <a:ext cx="6800578" cy="7215467"/>
          </a:xfrm>
          <a:custGeom>
            <a:avLst/>
            <a:gdLst/>
            <a:ahLst/>
            <a:cxnLst/>
            <a:rect l="l" t="t" r="r" b="b"/>
            <a:pathLst>
              <a:path w="6800578" h="7215467">
                <a:moveTo>
                  <a:pt x="0" y="0"/>
                </a:moveTo>
                <a:lnTo>
                  <a:pt x="6800578" y="0"/>
                </a:lnTo>
                <a:lnTo>
                  <a:pt x="6800578" y="7215467"/>
                </a:lnTo>
                <a:lnTo>
                  <a:pt x="0" y="7215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325600" y="5981700"/>
            <a:ext cx="3493770" cy="41033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298948" y="952500"/>
            <a:ext cx="9960352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691"/>
              </a:lnSpc>
            </a:pPr>
            <a:r>
              <a:rPr lang="en-US" sz="7044" b="1" spc="-35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Skills &amp; Topics</a:t>
            </a:r>
          </a:p>
        </p:txBody>
      </p:sp>
      <p:sp>
        <p:nvSpPr>
          <p:cNvPr id="8" name="Freeform 8"/>
          <p:cNvSpPr/>
          <p:nvPr/>
        </p:nvSpPr>
        <p:spPr>
          <a:xfrm>
            <a:off x="7561959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0424" y="1200230"/>
            <a:ext cx="9787152" cy="92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35"/>
              </a:lnSpc>
            </a:pPr>
            <a:r>
              <a:rPr lang="en-US" sz="7194" b="1" spc="-35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Benefits</a:t>
            </a:r>
          </a:p>
        </p:txBody>
      </p:sp>
      <p:sp>
        <p:nvSpPr>
          <p:cNvPr id="3" name="Freeform 3"/>
          <p:cNvSpPr/>
          <p:nvPr/>
        </p:nvSpPr>
        <p:spPr>
          <a:xfrm>
            <a:off x="12756492" y="438466"/>
            <a:ext cx="5379107" cy="6628052"/>
          </a:xfrm>
          <a:custGeom>
            <a:avLst/>
            <a:gdLst/>
            <a:ahLst/>
            <a:cxnLst/>
            <a:rect l="l" t="t" r="r" b="b"/>
            <a:pathLst>
              <a:path w="6802177" h="7505472">
                <a:moveTo>
                  <a:pt x="0" y="0"/>
                </a:moveTo>
                <a:lnTo>
                  <a:pt x="6802177" y="0"/>
                </a:lnTo>
                <a:lnTo>
                  <a:pt x="6802177" y="7505472"/>
                </a:lnTo>
                <a:lnTo>
                  <a:pt x="0" y="750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146" y="2423565"/>
            <a:ext cx="4907893" cy="5889750"/>
          </a:xfrm>
          <a:custGeom>
            <a:avLst/>
            <a:gdLst/>
            <a:ahLst/>
            <a:cxnLst/>
            <a:rect l="l" t="t" r="r" b="b"/>
            <a:pathLst>
              <a:path w="6799828" h="7061748">
                <a:moveTo>
                  <a:pt x="0" y="0"/>
                </a:moveTo>
                <a:lnTo>
                  <a:pt x="6799829" y="0"/>
                </a:lnTo>
                <a:lnTo>
                  <a:pt x="6799829" y="7061747"/>
                </a:lnTo>
                <a:lnTo>
                  <a:pt x="0" y="7061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049039" y="4991100"/>
            <a:ext cx="7554613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endParaRPr lang="en-US" sz="2184" b="1" i="1" dirty="0" smtClean="0">
              <a:solidFill>
                <a:srgbClr val="FFFFFF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marL="0" lvl="0" indent="0" algn="ctr">
              <a:lnSpc>
                <a:spcPts val="3057"/>
              </a:lnSpc>
            </a:pPr>
            <a:r>
              <a:rPr lang="en-US" sz="2184" b="1" i="1" dirty="0" smtClean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Real-World </a:t>
            </a:r>
            <a:r>
              <a:rPr lang="en-US" sz="2184" b="1" i="1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Problem-Solving with Industry 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75058" y="2423565"/>
            <a:ext cx="6137884" cy="39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r>
              <a:rPr lang="en-US" sz="218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International Collaboration Experience.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9039" y="3130087"/>
            <a:ext cx="8189922" cy="162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0"/>
              </a:lnSpc>
            </a:pPr>
            <a:r>
              <a:rPr lang="en-US" sz="182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 alongside students from Romania, Switzerland, Portugal, and Spain in a truly international environment. Using English as your working language, you will simulate how global technology companies operate — building communication, teamwork, and cross-cultural skills that are highly valued by employers worldwide.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1879" y="6134100"/>
            <a:ext cx="7945324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50"/>
              </a:lnSpc>
            </a:pPr>
            <a:r>
              <a:rPr lang="en-US" sz="182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Tackle hands-on challenges in data engineering, business intelligence, ETL processes, and database modelling using real-world datasets. You will develop practical technical expertise and analytical thinking that directly mirrors the demands of today's data-driven technology industry.</a:t>
            </a:r>
          </a:p>
        </p:txBody>
      </p:sp>
      <p:sp>
        <p:nvSpPr>
          <p:cNvPr id="9" name="Freeform 9"/>
          <p:cNvSpPr/>
          <p:nvPr/>
        </p:nvSpPr>
        <p:spPr>
          <a:xfrm>
            <a:off x="7561959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9024" y="192490"/>
            <a:ext cx="6798589" cy="6798589"/>
          </a:xfrm>
          <a:custGeom>
            <a:avLst/>
            <a:gdLst/>
            <a:ahLst/>
            <a:cxnLst/>
            <a:rect l="l" t="t" r="r" b="b"/>
            <a:pathLst>
              <a:path w="6798589" h="6798589">
                <a:moveTo>
                  <a:pt x="6798588" y="0"/>
                </a:moveTo>
                <a:lnTo>
                  <a:pt x="0" y="0"/>
                </a:lnTo>
                <a:lnTo>
                  <a:pt x="0" y="6798589"/>
                </a:lnTo>
                <a:lnTo>
                  <a:pt x="6798588" y="6798589"/>
                </a:lnTo>
                <a:lnTo>
                  <a:pt x="679858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6794" y="2019300"/>
            <a:ext cx="6798589" cy="6798589"/>
          </a:xfrm>
          <a:custGeom>
            <a:avLst/>
            <a:gdLst/>
            <a:ahLst/>
            <a:cxnLst/>
            <a:rect l="l" t="t" r="r" b="b"/>
            <a:pathLst>
              <a:path w="6798589" h="6798589">
                <a:moveTo>
                  <a:pt x="0" y="0"/>
                </a:moveTo>
                <a:lnTo>
                  <a:pt x="6798588" y="0"/>
                </a:lnTo>
                <a:lnTo>
                  <a:pt x="6798588" y="6798589"/>
                </a:lnTo>
                <a:lnTo>
                  <a:pt x="0" y="6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4810" y="2565452"/>
            <a:ext cx="5246370" cy="52463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066966" y="1562100"/>
            <a:ext cx="835922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262"/>
              </a:lnSpc>
            </a:pPr>
            <a:r>
              <a:rPr lang="en-US" sz="6591" b="1" spc="-32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Global Collaboration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58200" y="3086100"/>
            <a:ext cx="7855768" cy="3949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97"/>
              </a:lnSpc>
            </a:pPr>
            <a:r>
              <a:rPr lang="en-US" sz="19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 will work  side by side with students from Romania, Switzerland, Portugal, and Spain in a truly international environment. English will serve  as the shared working language throughout the </a:t>
            </a:r>
            <a:r>
              <a:rPr lang="en-US" sz="1998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programme</a:t>
            </a:r>
            <a:r>
              <a:rPr lang="en-US" sz="19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mirroring how leading technology companies operate across borders.</a:t>
            </a:r>
          </a:p>
          <a:p>
            <a:pPr marL="0" lvl="0" indent="0" algn="l">
              <a:lnSpc>
                <a:spcPts val="2797"/>
              </a:lnSpc>
            </a:pPr>
            <a:endParaRPr lang="en-US" sz="199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797"/>
              </a:lnSpc>
            </a:pPr>
            <a:r>
              <a:rPr lang="en-US" sz="19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Through collaborative projects, you will engage with diverse perspectives, solve real-world data challenges as a team, and build the communication and teamwork skills that global employers value most. Experience what it means to be part of an international tech workforce.</a:t>
            </a:r>
          </a:p>
        </p:txBody>
      </p:sp>
      <p:sp>
        <p:nvSpPr>
          <p:cNvPr id="8" name="Freeform 8"/>
          <p:cNvSpPr/>
          <p:nvPr/>
        </p:nvSpPr>
        <p:spPr>
          <a:xfrm>
            <a:off x="7561959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8846191" y="6278056"/>
            <a:ext cx="2909816" cy="2826159"/>
          </a:xfrm>
          <a:custGeom>
            <a:avLst/>
            <a:gdLst/>
            <a:ahLst/>
            <a:cxnLst/>
            <a:rect l="l" t="t" r="r" b="b"/>
            <a:pathLst>
              <a:path w="2909816" h="2826159">
                <a:moveTo>
                  <a:pt x="0" y="0"/>
                </a:moveTo>
                <a:lnTo>
                  <a:pt x="2909816" y="0"/>
                </a:lnTo>
                <a:lnTo>
                  <a:pt x="2909816" y="2826159"/>
                </a:lnTo>
                <a:lnTo>
                  <a:pt x="0" y="28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97289" y="3862553"/>
            <a:ext cx="5919430" cy="260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68"/>
              </a:lnSpc>
            </a:pPr>
            <a:r>
              <a:rPr lang="en-US" sz="10492" b="1" spc="-52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JOIN</a:t>
            </a:r>
          </a:p>
          <a:p>
            <a:pPr marL="0" lvl="0" indent="0" algn="l">
              <a:lnSpc>
                <a:spcPts val="9968"/>
              </a:lnSpc>
            </a:pPr>
            <a:r>
              <a:rPr lang="en-US" sz="10492" b="1" spc="-52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UNITA</a:t>
            </a:r>
          </a:p>
        </p:txBody>
      </p:sp>
      <p:sp>
        <p:nvSpPr>
          <p:cNvPr id="4" name="Freeform 4"/>
          <p:cNvSpPr/>
          <p:nvPr/>
        </p:nvSpPr>
        <p:spPr>
          <a:xfrm>
            <a:off x="1469466" y="2628900"/>
            <a:ext cx="4856404" cy="5780294"/>
          </a:xfrm>
          <a:custGeom>
            <a:avLst/>
            <a:gdLst/>
            <a:ahLst/>
            <a:cxnLst/>
            <a:rect l="l" t="t" r="r" b="b"/>
            <a:pathLst>
              <a:path w="8234714" h="9236391">
                <a:moveTo>
                  <a:pt x="0" y="0"/>
                </a:moveTo>
                <a:lnTo>
                  <a:pt x="8234714" y="0"/>
                </a:lnTo>
                <a:lnTo>
                  <a:pt x="8234714" y="9236391"/>
                </a:lnTo>
                <a:lnTo>
                  <a:pt x="0" y="9236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591800" y="1033480"/>
            <a:ext cx="6329198" cy="6637843"/>
          </a:xfrm>
          <a:custGeom>
            <a:avLst/>
            <a:gdLst/>
            <a:ahLst/>
            <a:cxnLst/>
            <a:rect l="l" t="t" r="r" b="b"/>
            <a:pathLst>
              <a:path w="8234198" h="9143495">
                <a:moveTo>
                  <a:pt x="0" y="0"/>
                </a:moveTo>
                <a:lnTo>
                  <a:pt x="8234198" y="0"/>
                </a:lnTo>
                <a:lnTo>
                  <a:pt x="8234198" y="9143496"/>
                </a:lnTo>
                <a:lnTo>
                  <a:pt x="0" y="9143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19945" y="8919624"/>
            <a:ext cx="3099856" cy="1367376"/>
          </a:xfrm>
          <a:custGeom>
            <a:avLst/>
            <a:gdLst/>
            <a:ahLst/>
            <a:cxnLst/>
            <a:rect l="l" t="t" r="r" b="b"/>
            <a:pathLst>
              <a:path w="3099856" h="1367376">
                <a:moveTo>
                  <a:pt x="0" y="0"/>
                </a:moveTo>
                <a:lnTo>
                  <a:pt x="3099856" y="0"/>
                </a:lnTo>
                <a:lnTo>
                  <a:pt x="3099856" y="1367376"/>
                </a:lnTo>
                <a:lnTo>
                  <a:pt x="0" y="1367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362</Words>
  <Application>Microsoft Office PowerPoint</Application>
  <PresentationFormat>Personalizado</PresentationFormat>
  <Paragraphs>35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Poppins Bold Italics</vt:lpstr>
      <vt:lpstr>Arial</vt:lpstr>
      <vt:lpstr>Poppins Bold</vt:lpstr>
      <vt:lpstr>League Spartan</vt:lpstr>
      <vt:lpstr>Poppins</vt:lpstr>
      <vt:lpstr>Sanchez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 PROJECT</dc:title>
  <dc:creator>Charo Cuart</dc:creator>
  <cp:lastModifiedBy>Charo Cuart</cp:lastModifiedBy>
  <cp:revision>2</cp:revision>
  <dcterms:created xsi:type="dcterms:W3CDTF">2006-08-16T00:00:00Z</dcterms:created>
  <dcterms:modified xsi:type="dcterms:W3CDTF">2026-09-03T16:57:10Z</dcterms:modified>
  <dc:identifier>DAHUJrNzhv8</dc:identifier>
</cp:coreProperties>
</file>